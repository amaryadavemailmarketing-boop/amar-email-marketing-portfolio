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alphaModFix amt="40000"/>
          </a:blip>
          <a:stretch>
            <a:fillRect/>
          </a:stretch>
        </p:blipFill>
        <p:spPr>
          <a:xfrm>
            <a:off x="6583680" y="-91440"/>
            <a:ext cx="2651760" cy="2651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MARKETING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457200" y="132588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Amar Yadav</a:t>
            </a:r>
            <a:endParaRPr lang="en-US" sz="5200" dirty="0"/>
          </a:p>
        </p:txBody>
      </p:sp>
      <p:sp>
        <p:nvSpPr>
          <p:cNvPr id="6" name="Text 3"/>
          <p:cNvSpPr/>
          <p:nvPr/>
        </p:nvSpPr>
        <p:spPr>
          <a:xfrm>
            <a:off x="457200" y="2331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F5D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&amp; Campaign Results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457200" y="2926080"/>
            <a:ext cx="5029200" cy="27432"/>
          </a:xfrm>
          <a:prstGeom prst="rect">
            <a:avLst/>
          </a:prstGeom>
          <a:solidFill>
            <a:srgbClr val="243672"/>
          </a:solidFill>
          <a:ln w="12700">
            <a:solidFill>
              <a:srgbClr val="243672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57200" y="3200400"/>
            <a:ext cx="1920240" cy="347472"/>
          </a:xfrm>
          <a:prstGeom prst="roundRect">
            <a:avLst>
              <a:gd name="adj" fmla="val 21053"/>
            </a:avLst>
          </a:prstGeom>
          <a:solidFill>
            <a:srgbClr val="243672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320040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5D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Generation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2606040" y="3200400"/>
            <a:ext cx="1920240" cy="347472"/>
          </a:xfrm>
          <a:prstGeom prst="roundRect">
            <a:avLst>
              <a:gd name="adj" fmla="val 21053"/>
            </a:avLst>
          </a:prstGeom>
          <a:solidFill>
            <a:srgbClr val="243672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606040" y="320040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5D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Funnels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4754880" y="3200400"/>
            <a:ext cx="1920240" cy="347472"/>
          </a:xfrm>
          <a:prstGeom prst="roundRect">
            <a:avLst>
              <a:gd name="adj" fmla="val 21053"/>
            </a:avLst>
          </a:prstGeom>
          <a:solidFill>
            <a:srgbClr val="243672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754880" y="320040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5D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Newsletter Campaigns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6903720" y="3200400"/>
            <a:ext cx="1920240" cy="347472"/>
          </a:xfrm>
          <a:prstGeom prst="roundRect">
            <a:avLst>
              <a:gd name="adj" fmla="val 21053"/>
            </a:avLst>
          </a:prstGeom>
          <a:solidFill>
            <a:srgbClr val="243672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903720" y="320040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5D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Handling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1A2F5E"/>
          </a:solidFill>
          <a:ln w="12700">
            <a:solidFill>
              <a:srgbClr val="1A2F5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74320" y="4507992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amaryadav.emailmarketing@gmail.com   |   +91-7057779281   |   Pune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ME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Email Marketing Specialist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1188720"/>
            <a:ext cx="5303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specialize in</a:t>
            </a:r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results-driven email marketing</a:t>
            </a:r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from personalized outreach to full lead nurturing funnels. My campaigns consistently grow open rates, response rates, and qualified leads.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2331720"/>
            <a:ext cx="402336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9F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2587752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51560" y="2441448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Generation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051560" y="2807208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cold emails &amp; follow-up sequences that convert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754880" y="2331720"/>
            <a:ext cx="402336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9F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9472" y="2587752"/>
            <a:ext cx="411480" cy="411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40680" y="2441448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Analytics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5440680" y="2807208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open rates, CTR &amp; leads to optimize performance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365760" y="3566160"/>
            <a:ext cx="402336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9F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3822192"/>
            <a:ext cx="411480" cy="41148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051560" y="3675888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 Segmentation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1051560" y="4041648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messaging for the right audience at right time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4754880" y="3566160"/>
            <a:ext cx="402336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9F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9472" y="3822192"/>
            <a:ext cx="411480" cy="41148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440680" y="3675888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Funnel Building</a:t>
            </a:r>
            <a:endParaRPr lang="en-US" sz="1200" dirty="0"/>
          </a:p>
        </p:txBody>
      </p:sp>
      <p:sp>
        <p:nvSpPr>
          <p:cNvPr id="21" name="Text 15"/>
          <p:cNvSpPr/>
          <p:nvPr/>
        </p:nvSpPr>
        <p:spPr>
          <a:xfrm>
            <a:off x="5440680" y="4041648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 → Follow-up → Reminder → Offer email sequences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rgbClr val="1A2F5E"/>
          </a:solidFill>
          <a:ln w="12700">
            <a:solidFill>
              <a:srgbClr val="1A2F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32004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01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74320" y="658368"/>
            <a:ext cx="4114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Insurance Email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Campaign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74320" y="16916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5D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DNA Insurance | Lead Generation via Email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74320" y="2194560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</a:t>
            </a:r>
            <a:endParaRPr lang="en-US" sz="10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2578608"/>
            <a:ext cx="201168" cy="20116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48640" y="254203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5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 personalized emails to targeted audience</a:t>
            </a:r>
            <a:endParaRPr lang="en-US" sz="11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990088"/>
            <a:ext cx="201168" cy="20116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8640" y="295351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5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multi-step follow-up sequences</a:t>
            </a:r>
            <a:endParaRPr lang="en-US" sz="11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401568"/>
            <a:ext cx="201168" cy="20116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48640" y="336499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5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Segmented audience for relevant messaging</a:t>
            </a:r>
            <a:endParaRPr lang="en-US" sz="1100" dirty="0"/>
          </a:p>
        </p:txBody>
      </p:sp>
      <p:sp>
        <p:nvSpPr>
          <p:cNvPr id="14" name="Shape 9"/>
          <p:cNvSpPr/>
          <p:nvPr/>
        </p:nvSpPr>
        <p:spPr>
          <a:xfrm>
            <a:off x="4846320" y="457200"/>
            <a:ext cx="3840480" cy="1234440"/>
          </a:xfrm>
          <a:prstGeom prst="rect">
            <a:avLst/>
          </a:prstGeom>
          <a:solidFill>
            <a:srgbClr val="243672"/>
          </a:solidFill>
          <a:ln w="12700">
            <a:solidFill>
              <a:srgbClr val="E8B84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15" name="Text 10"/>
          <p:cNvSpPr/>
          <p:nvPr/>
        </p:nvSpPr>
        <p:spPr>
          <a:xfrm>
            <a:off x="4846320" y="54864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8B8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20–30</a:t>
            </a:r>
            <a:endParaRPr lang="en-US" sz="3400" dirty="0"/>
          </a:p>
        </p:txBody>
      </p:sp>
      <p:sp>
        <p:nvSpPr>
          <p:cNvPr id="16" name="Text 11"/>
          <p:cNvSpPr/>
          <p:nvPr/>
        </p:nvSpPr>
        <p:spPr>
          <a:xfrm>
            <a:off x="4846320" y="11887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5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 / Month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4846320" y="1920240"/>
            <a:ext cx="3840480" cy="1234440"/>
          </a:xfrm>
          <a:prstGeom prst="rect">
            <a:avLst/>
          </a:prstGeom>
          <a:solidFill>
            <a:srgbClr val="243672"/>
          </a:solidFill>
          <a:ln w="12700">
            <a:solidFill>
              <a:srgbClr val="E8B84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18" name="Text 13"/>
          <p:cNvSpPr/>
          <p:nvPr/>
        </p:nvSpPr>
        <p:spPr>
          <a:xfrm>
            <a:off x="4846320" y="201168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8B8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15%→25%</a:t>
            </a:r>
            <a:endParaRPr lang="en-US" sz="3400" dirty="0"/>
          </a:p>
        </p:txBody>
      </p:sp>
      <p:sp>
        <p:nvSpPr>
          <p:cNvPr id="19" name="Text 14"/>
          <p:cNvSpPr/>
          <p:nvPr/>
        </p:nvSpPr>
        <p:spPr>
          <a:xfrm>
            <a:off x="4846320" y="26517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5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Rate Growth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4846320" y="3383280"/>
            <a:ext cx="3840480" cy="1234440"/>
          </a:xfrm>
          <a:prstGeom prst="rect">
            <a:avLst/>
          </a:prstGeom>
          <a:solidFill>
            <a:srgbClr val="243672"/>
          </a:solidFill>
          <a:ln w="12700">
            <a:solidFill>
              <a:srgbClr val="E8B84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21" name="Text 16"/>
          <p:cNvSpPr/>
          <p:nvPr/>
        </p:nvSpPr>
        <p:spPr>
          <a:xfrm>
            <a:off x="4846320" y="347472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8B8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+30%</a:t>
            </a:r>
            <a:endParaRPr lang="en-US" sz="3400" dirty="0"/>
          </a:p>
        </p:txBody>
      </p:sp>
      <p:sp>
        <p:nvSpPr>
          <p:cNvPr id="22" name="Text 17"/>
          <p:cNvSpPr/>
          <p:nvPr/>
        </p:nvSpPr>
        <p:spPr>
          <a:xfrm>
            <a:off x="4846320" y="41148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5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Rate</a:t>
            </a:r>
            <a:endParaRPr lang="en-US" sz="1300" dirty="0"/>
          </a:p>
        </p:txBody>
      </p:sp>
      <p:sp>
        <p:nvSpPr>
          <p:cNvPr id="23" name="Shape 18"/>
          <p:cNvSpPr/>
          <p:nvPr/>
        </p:nvSpPr>
        <p:spPr>
          <a:xfrm>
            <a:off x="4754880" y="4663440"/>
            <a:ext cx="4114800" cy="347472"/>
          </a:xfrm>
          <a:prstGeom prst="rect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4754880" y="466344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📧 Sample email included in portfolio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EMAIL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384048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Campaign — DNA Insurance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051560"/>
            <a:ext cx="804672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9F2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051560"/>
            <a:ext cx="8046720" cy="502920"/>
          </a:xfrm>
          <a:prstGeom prst="rect">
            <a:avLst/>
          </a:prstGeom>
          <a:solidFill>
            <a:srgbClr val="1A2F5E"/>
          </a:solidFill>
          <a:ln w="12700">
            <a:solidFill>
              <a:srgbClr val="1A2F5E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115568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24128" y="105156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Subject:  Get Your Insurance Plan Today – Limited Offer!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68680" y="169164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Dear Customer,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68680" y="199339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offering customized insurance plans to secure your future.</a:t>
            </a:r>
            <a:endParaRPr lang="en-US" sz="11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377440"/>
            <a:ext cx="201168" cy="20116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143000" y="235000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Affordable pricing</a:t>
            </a:r>
            <a:endParaRPr lang="en-US" sz="11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724912"/>
            <a:ext cx="201168" cy="20116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43000" y="26974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claim process</a:t>
            </a:r>
            <a:endParaRPr lang="en-US" sz="11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3072384"/>
            <a:ext cx="201168" cy="20116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143000" y="3044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Trusted service</a:t>
            </a:r>
            <a:endParaRPr lang="en-US" sz="1100" dirty="0"/>
          </a:p>
        </p:txBody>
      </p:sp>
      <p:sp>
        <p:nvSpPr>
          <p:cNvPr id="17" name="Text 11"/>
          <p:cNvSpPr/>
          <p:nvPr/>
        </p:nvSpPr>
        <p:spPr>
          <a:xfrm>
            <a:off x="868680" y="342900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below to get your free quote today.</a:t>
            </a:r>
            <a:endParaRPr lang="en-US" sz="1100" dirty="0"/>
          </a:p>
        </p:txBody>
      </p:sp>
      <p:sp>
        <p:nvSpPr>
          <p:cNvPr id="18" name="Shape 12"/>
          <p:cNvSpPr/>
          <p:nvPr/>
        </p:nvSpPr>
        <p:spPr>
          <a:xfrm>
            <a:off x="868680" y="3749040"/>
            <a:ext cx="2011680" cy="384048"/>
          </a:xfrm>
          <a:prstGeom prst="roundRect">
            <a:avLst>
              <a:gd name="adj" fmla="val 14286"/>
            </a:avLst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868680" y="374904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FREE QUOTE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868680" y="425196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Regards,  Team</a:t>
            </a:r>
            <a:endParaRPr lang="en-US" sz="1000" dirty="0"/>
          </a:p>
        </p:txBody>
      </p:sp>
      <p:sp>
        <p:nvSpPr>
          <p:cNvPr id="21" name="Shape 15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F5E"/>
          </a:solidFill>
          <a:ln w="12700">
            <a:solidFill>
              <a:srgbClr val="1A2F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02  —  LEAD NURTURING FUNNEL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02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28600" y="1051560"/>
            <a:ext cx="1828800" cy="1463040"/>
          </a:xfrm>
          <a:prstGeom prst="rect">
            <a:avLst/>
          </a:prstGeom>
          <a:solidFill>
            <a:srgbClr val="0D1B3E"/>
          </a:solidFill>
          <a:ln w="12700">
            <a:solidFill>
              <a:srgbClr val="E8B84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96112" y="1115568"/>
            <a:ext cx="502920" cy="502920"/>
          </a:xfrm>
          <a:prstGeom prst="ellipse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111556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28600" y="1719072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 Email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28600" y="210312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5D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 brand &amp; value</a:t>
            </a:r>
            <a:endParaRPr lang="en-US" sz="10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03120" y="1627632"/>
            <a:ext cx="228600" cy="22860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2404872" y="1051560"/>
            <a:ext cx="1828800" cy="1463040"/>
          </a:xfrm>
          <a:prstGeom prst="rect">
            <a:avLst/>
          </a:prstGeom>
          <a:solidFill>
            <a:srgbClr val="0D1B3E"/>
          </a:solidFill>
          <a:ln w="12700">
            <a:solidFill>
              <a:srgbClr val="E8B84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072384" y="1115568"/>
            <a:ext cx="502920" cy="502920"/>
          </a:xfrm>
          <a:prstGeom prst="ellipse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072384" y="111556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2404872" y="1719072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 Email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2404872" y="210312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5D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trust &amp; interest</a:t>
            </a:r>
            <a:endParaRPr lang="en-US" sz="100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9392" y="1627632"/>
            <a:ext cx="228600" cy="228600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4581144" y="1051560"/>
            <a:ext cx="1828800" cy="1463040"/>
          </a:xfrm>
          <a:prstGeom prst="rect">
            <a:avLst/>
          </a:prstGeom>
          <a:solidFill>
            <a:srgbClr val="0D1B3E"/>
          </a:solidFill>
          <a:ln w="12700">
            <a:solidFill>
              <a:srgbClr val="E8B84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5248656" y="1115568"/>
            <a:ext cx="502920" cy="502920"/>
          </a:xfrm>
          <a:prstGeom prst="ellipse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5248656" y="111556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4581144" y="1719072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Reminder Email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4581144" y="210312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5D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Re-engage prospects</a:t>
            </a:r>
            <a:endParaRPr lang="en-US" sz="1000" dirty="0"/>
          </a:p>
        </p:txBody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5664" y="1627632"/>
            <a:ext cx="228600" cy="228600"/>
          </a:xfrm>
          <a:prstGeom prst="rect">
            <a:avLst/>
          </a:prstGeom>
        </p:spPr>
      </p:pic>
      <p:sp>
        <p:nvSpPr>
          <p:cNvPr id="23" name="Shape 18"/>
          <p:cNvSpPr/>
          <p:nvPr/>
        </p:nvSpPr>
        <p:spPr>
          <a:xfrm>
            <a:off x="6757416" y="1051560"/>
            <a:ext cx="1828800" cy="1463040"/>
          </a:xfrm>
          <a:prstGeom prst="rect">
            <a:avLst/>
          </a:prstGeom>
          <a:solidFill>
            <a:srgbClr val="0D1B3E"/>
          </a:solidFill>
          <a:ln w="12700">
            <a:solidFill>
              <a:srgbClr val="E8B84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7424928" y="1115568"/>
            <a:ext cx="502920" cy="502920"/>
          </a:xfrm>
          <a:prstGeom prst="ellipse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7424928" y="111556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6" name="Text 21"/>
          <p:cNvSpPr/>
          <p:nvPr/>
        </p:nvSpPr>
        <p:spPr>
          <a:xfrm>
            <a:off x="6757416" y="1719072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Email</a:t>
            </a:r>
            <a:endParaRPr lang="en-US" sz="1200" dirty="0"/>
          </a:p>
        </p:txBody>
      </p:sp>
      <p:sp>
        <p:nvSpPr>
          <p:cNvPr id="27" name="Text 22"/>
          <p:cNvSpPr/>
          <p:nvPr/>
        </p:nvSpPr>
        <p:spPr>
          <a:xfrm>
            <a:off x="6757416" y="210312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5D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with special deal</a:t>
            </a:r>
            <a:endParaRPr lang="en-US" sz="1000" dirty="0"/>
          </a:p>
        </p:txBody>
      </p:sp>
      <p:sp>
        <p:nvSpPr>
          <p:cNvPr id="28" name="Text 23"/>
          <p:cNvSpPr/>
          <p:nvPr/>
        </p:nvSpPr>
        <p:spPr>
          <a:xfrm>
            <a:off x="365760" y="274320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RESULTS</a:t>
            </a:r>
            <a:endParaRPr lang="en-US" sz="1100" dirty="0"/>
          </a:p>
        </p:txBody>
      </p:sp>
      <p:sp>
        <p:nvSpPr>
          <p:cNvPr id="29" name="Shape 24"/>
          <p:cNvSpPr/>
          <p:nvPr/>
        </p:nvSpPr>
        <p:spPr>
          <a:xfrm>
            <a:off x="365760" y="2761488"/>
            <a:ext cx="1371600" cy="27432"/>
          </a:xfrm>
          <a:prstGeom prst="rect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274320" y="3200400"/>
            <a:ext cx="26517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9F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3310128"/>
            <a:ext cx="365760" cy="365760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868680" y="329184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Rate</a:t>
            </a:r>
            <a:endParaRPr lang="en-US" sz="1200" dirty="0"/>
          </a:p>
        </p:txBody>
      </p:sp>
      <p:sp>
        <p:nvSpPr>
          <p:cNvPr id="33" name="Text 27"/>
          <p:cNvSpPr/>
          <p:nvPr/>
        </p:nvSpPr>
        <p:spPr>
          <a:xfrm>
            <a:off x="274320" y="374904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B8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22%  →  30%</a:t>
            </a:r>
            <a:endParaRPr lang="en-US" sz="2200" dirty="0"/>
          </a:p>
        </p:txBody>
      </p:sp>
      <p:sp>
        <p:nvSpPr>
          <p:cNvPr id="34" name="Text 28"/>
          <p:cNvSpPr/>
          <p:nvPr/>
        </p:nvSpPr>
        <p:spPr>
          <a:xfrm>
            <a:off x="274320" y="4297680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→ After</a:t>
            </a:r>
            <a:endParaRPr lang="en-US" sz="900" dirty="0"/>
          </a:p>
        </p:txBody>
      </p:sp>
      <p:sp>
        <p:nvSpPr>
          <p:cNvPr id="35" name="Shape 29"/>
          <p:cNvSpPr/>
          <p:nvPr/>
        </p:nvSpPr>
        <p:spPr>
          <a:xfrm>
            <a:off x="3200400" y="3200400"/>
            <a:ext cx="26517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9F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37560" y="3310128"/>
            <a:ext cx="365760" cy="365760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3794760" y="329184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Click-Through Rate</a:t>
            </a:r>
            <a:endParaRPr lang="en-US" sz="1200" dirty="0"/>
          </a:p>
        </p:txBody>
      </p:sp>
      <p:sp>
        <p:nvSpPr>
          <p:cNvPr id="38" name="Text 31"/>
          <p:cNvSpPr/>
          <p:nvPr/>
        </p:nvSpPr>
        <p:spPr>
          <a:xfrm>
            <a:off x="3200400" y="374904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B8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3%  →  5%</a:t>
            </a:r>
            <a:endParaRPr lang="en-US" sz="2200" dirty="0"/>
          </a:p>
        </p:txBody>
      </p:sp>
      <p:sp>
        <p:nvSpPr>
          <p:cNvPr id="39" name="Text 32"/>
          <p:cNvSpPr/>
          <p:nvPr/>
        </p:nvSpPr>
        <p:spPr>
          <a:xfrm>
            <a:off x="3200400" y="4297680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→ After</a:t>
            </a:r>
            <a:endParaRPr lang="en-US" sz="900" dirty="0"/>
          </a:p>
        </p:txBody>
      </p:sp>
      <p:sp>
        <p:nvSpPr>
          <p:cNvPr id="40" name="Shape 33"/>
          <p:cNvSpPr/>
          <p:nvPr/>
        </p:nvSpPr>
        <p:spPr>
          <a:xfrm>
            <a:off x="6126480" y="3200400"/>
            <a:ext cx="26517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9F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pic>
        <p:nvPicPr>
          <p:cNvPr id="4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63640" y="3310128"/>
            <a:ext cx="365760" cy="365760"/>
          </a:xfrm>
          <a:prstGeom prst="rect">
            <a:avLst/>
          </a:prstGeom>
        </p:spPr>
      </p:pic>
      <p:sp>
        <p:nvSpPr>
          <p:cNvPr id="42" name="Text 34"/>
          <p:cNvSpPr/>
          <p:nvPr/>
        </p:nvSpPr>
        <p:spPr>
          <a:xfrm>
            <a:off x="6720840" y="329184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 / Month</a:t>
            </a:r>
            <a:endParaRPr lang="en-US" sz="1200" dirty="0"/>
          </a:p>
        </p:txBody>
      </p:sp>
      <p:sp>
        <p:nvSpPr>
          <p:cNvPr id="43" name="Text 35"/>
          <p:cNvSpPr/>
          <p:nvPr/>
        </p:nvSpPr>
        <p:spPr>
          <a:xfrm>
            <a:off x="6126480" y="374904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B8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  →  25–30</a:t>
            </a:r>
            <a:endParaRPr lang="en-US" sz="2200" dirty="0"/>
          </a:p>
        </p:txBody>
      </p:sp>
      <p:sp>
        <p:nvSpPr>
          <p:cNvPr id="44" name="Text 36"/>
          <p:cNvSpPr/>
          <p:nvPr/>
        </p:nvSpPr>
        <p:spPr>
          <a:xfrm>
            <a:off x="6126480" y="4297680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→ After</a:t>
            </a:r>
            <a:endParaRPr lang="en-US" sz="900" dirty="0"/>
          </a:p>
        </p:txBody>
      </p:sp>
      <p:sp>
        <p:nvSpPr>
          <p:cNvPr id="45" name="Shape 37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320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03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20040" y="658368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Newsletter Campaign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320040" y="1508760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5D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engagement for existing customers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20040" y="201168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DID</a:t>
            </a:r>
            <a:endParaRPr lang="en-US" sz="10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2395728"/>
            <a:ext cx="201168" cy="20116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94360" y="235915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5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compelling monthly newsletters</a:t>
            </a:r>
            <a:endParaRPr lang="en-US" sz="12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852928"/>
            <a:ext cx="201168" cy="20116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94360" y="281635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5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exclusive offers &amp; product updates</a:t>
            </a:r>
            <a:endParaRPr lang="en-US" sz="12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310128"/>
            <a:ext cx="201168" cy="20116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94360" y="327355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5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with Canva – clean, simple layout</a:t>
            </a:r>
            <a:endParaRPr lang="en-US" sz="12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>
            <a:alphaModFix amt="25000"/>
          </a:blip>
          <a:stretch>
            <a:fillRect/>
          </a:stretch>
        </p:blipFill>
        <p:spPr>
          <a:xfrm>
            <a:off x="5303520" y="457200"/>
            <a:ext cx="3200400" cy="3200400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5029200" y="1828800"/>
            <a:ext cx="3749040" cy="1261872"/>
          </a:xfrm>
          <a:prstGeom prst="rect">
            <a:avLst/>
          </a:prstGeom>
          <a:solidFill>
            <a:srgbClr val="243672"/>
          </a:solidFill>
          <a:ln w="12700">
            <a:solidFill>
              <a:srgbClr val="E8B84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15" name="Text 9"/>
          <p:cNvSpPr/>
          <p:nvPr/>
        </p:nvSpPr>
        <p:spPr>
          <a:xfrm>
            <a:off x="5029200" y="1901952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8B8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15–20%</a:t>
            </a:r>
            <a:endParaRPr lang="en-US" sz="2800" dirty="0"/>
          </a:p>
        </p:txBody>
      </p:sp>
      <p:sp>
        <p:nvSpPr>
          <p:cNvPr id="16" name="Text 10"/>
          <p:cNvSpPr/>
          <p:nvPr/>
        </p:nvSpPr>
        <p:spPr>
          <a:xfrm>
            <a:off x="5029200" y="2542032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5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Rate Achieved</a:t>
            </a:r>
            <a:endParaRPr lang="en-US" sz="1300" dirty="0"/>
          </a:p>
        </p:txBody>
      </p:sp>
      <p:sp>
        <p:nvSpPr>
          <p:cNvPr id="17" name="Shape 11"/>
          <p:cNvSpPr/>
          <p:nvPr/>
        </p:nvSpPr>
        <p:spPr>
          <a:xfrm>
            <a:off x="5029200" y="3337560"/>
            <a:ext cx="3749040" cy="1261872"/>
          </a:xfrm>
          <a:prstGeom prst="rect">
            <a:avLst/>
          </a:prstGeom>
          <a:solidFill>
            <a:srgbClr val="243672"/>
          </a:solidFill>
          <a:ln w="12700">
            <a:solidFill>
              <a:srgbClr val="E8B84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18" name="Text 12"/>
          <p:cNvSpPr/>
          <p:nvPr/>
        </p:nvSpPr>
        <p:spPr>
          <a:xfrm>
            <a:off x="5029200" y="3410712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8B8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↑ Engagement</a:t>
            </a:r>
            <a:endParaRPr lang="en-US" sz="2800" dirty="0"/>
          </a:p>
        </p:txBody>
      </p:sp>
      <p:sp>
        <p:nvSpPr>
          <p:cNvPr id="19" name="Text 13"/>
          <p:cNvSpPr/>
          <p:nvPr/>
        </p:nvSpPr>
        <p:spPr>
          <a:xfrm>
            <a:off x="5029200" y="4050792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5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Retention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89120" cy="51435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274320"/>
            <a:ext cx="411480" cy="411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0" y="27432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TOOLS I USE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228600" y="914400"/>
            <a:ext cx="3840480" cy="594360"/>
          </a:xfrm>
          <a:prstGeom prst="rect">
            <a:avLst/>
          </a:prstGeom>
          <a:solidFill>
            <a:srgbClr val="1A2F5E"/>
          </a:solidFill>
          <a:ln w="12700">
            <a:solidFill>
              <a:srgbClr val="243672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365760" y="96012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Gmail / Email Tools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017520" y="1060704"/>
            <a:ext cx="822960" cy="292608"/>
          </a:xfrm>
          <a:prstGeom prst="roundRect">
            <a:avLst>
              <a:gd name="adj" fmla="val 18750"/>
            </a:avLst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017520" y="1060704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228600" y="1664208"/>
            <a:ext cx="3840480" cy="594360"/>
          </a:xfrm>
          <a:prstGeom prst="rect">
            <a:avLst/>
          </a:prstGeom>
          <a:solidFill>
            <a:srgbClr val="1A2F5E"/>
          </a:solidFill>
          <a:ln w="12700">
            <a:solidFill>
              <a:srgbClr val="243672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5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365760" y="1709928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/ Google Sheets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017520" y="1810512"/>
            <a:ext cx="822960" cy="292608"/>
          </a:xfrm>
          <a:prstGeom prst="roundRect">
            <a:avLst>
              <a:gd name="adj" fmla="val 18750"/>
            </a:avLst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017520" y="1810512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228600" y="2414016"/>
            <a:ext cx="3840480" cy="594360"/>
          </a:xfrm>
          <a:prstGeom prst="rect">
            <a:avLst/>
          </a:prstGeom>
          <a:solidFill>
            <a:srgbClr val="1A2F5E"/>
          </a:solidFill>
          <a:ln w="12700">
            <a:solidFill>
              <a:srgbClr val="243672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5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365760" y="2459736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3017520" y="2560320"/>
            <a:ext cx="822960" cy="292608"/>
          </a:xfrm>
          <a:prstGeom prst="roundRect">
            <a:avLst>
              <a:gd name="adj" fmla="val 18750"/>
            </a:avLst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017520" y="2560320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228600" y="3163824"/>
            <a:ext cx="3840480" cy="594360"/>
          </a:xfrm>
          <a:prstGeom prst="rect">
            <a:avLst/>
          </a:prstGeom>
          <a:solidFill>
            <a:srgbClr val="1A2F5E"/>
          </a:solidFill>
          <a:ln w="12700">
            <a:solidFill>
              <a:srgbClr val="243672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5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365760" y="3209544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(Basic Handling)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3017520" y="3310128"/>
            <a:ext cx="822960" cy="292608"/>
          </a:xfrm>
          <a:prstGeom prst="roundRect">
            <a:avLst>
              <a:gd name="adj" fmla="val 18750"/>
            </a:avLst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017520" y="3310128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Mgmt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228600" y="3913632"/>
            <a:ext cx="3840480" cy="594360"/>
          </a:xfrm>
          <a:prstGeom prst="rect">
            <a:avLst/>
          </a:prstGeom>
          <a:solidFill>
            <a:srgbClr val="1A2F5E"/>
          </a:solidFill>
          <a:ln w="12700">
            <a:solidFill>
              <a:srgbClr val="243672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5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365760" y="3959352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Mailchimp / Brevo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3017520" y="4059936"/>
            <a:ext cx="822960" cy="292608"/>
          </a:xfrm>
          <a:prstGeom prst="roundRect">
            <a:avLst>
              <a:gd name="adj" fmla="val 18750"/>
            </a:avLst>
          </a:prstGeom>
          <a:solidFill>
            <a:srgbClr val="243672"/>
          </a:solidFill>
          <a:ln w="12700">
            <a:solidFill>
              <a:srgbClr val="243672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017520" y="4059936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D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</a:t>
            </a:r>
            <a:endParaRPr lang="en-US" sz="900" dirty="0"/>
          </a:p>
        </p:txBody>
      </p:sp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82880"/>
            <a:ext cx="411480" cy="411480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5074920" y="18288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ACHIEVEMENTS</a:t>
            </a:r>
            <a:endParaRPr lang="en-US" sz="1600" dirty="0"/>
          </a:p>
        </p:txBody>
      </p:sp>
      <p:sp>
        <p:nvSpPr>
          <p:cNvPr id="28" name="Shape 24"/>
          <p:cNvSpPr/>
          <p:nvPr/>
        </p:nvSpPr>
        <p:spPr>
          <a:xfrm>
            <a:off x="4617720" y="777240"/>
            <a:ext cx="19202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9F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9" name="Shape 25"/>
          <p:cNvSpPr/>
          <p:nvPr/>
        </p:nvSpPr>
        <p:spPr>
          <a:xfrm>
            <a:off x="4617720" y="777240"/>
            <a:ext cx="1920240" cy="109728"/>
          </a:xfrm>
          <a:prstGeom prst="rect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4617720" y="100584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D1B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20–30</a:t>
            </a:r>
            <a:endParaRPr lang="en-US" sz="3000" dirty="0"/>
          </a:p>
        </p:txBody>
      </p:sp>
      <p:sp>
        <p:nvSpPr>
          <p:cNvPr id="31" name="Text 27"/>
          <p:cNvSpPr/>
          <p:nvPr/>
        </p:nvSpPr>
        <p:spPr>
          <a:xfrm>
            <a:off x="4617720" y="178308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 generated per month</a:t>
            </a:r>
            <a:endParaRPr lang="en-US" sz="1100" dirty="0"/>
          </a:p>
        </p:txBody>
      </p:sp>
      <p:sp>
        <p:nvSpPr>
          <p:cNvPr id="32" name="Shape 28"/>
          <p:cNvSpPr/>
          <p:nvPr/>
        </p:nvSpPr>
        <p:spPr>
          <a:xfrm>
            <a:off x="6766560" y="777240"/>
            <a:ext cx="19202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9F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3" name="Shape 29"/>
          <p:cNvSpPr/>
          <p:nvPr/>
        </p:nvSpPr>
        <p:spPr>
          <a:xfrm>
            <a:off x="6766560" y="777240"/>
            <a:ext cx="1920240" cy="109728"/>
          </a:xfrm>
          <a:prstGeom prst="rect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6766560" y="100584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D1B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+30%</a:t>
            </a:r>
            <a:endParaRPr lang="en-US" sz="3000" dirty="0"/>
          </a:p>
        </p:txBody>
      </p:sp>
      <p:sp>
        <p:nvSpPr>
          <p:cNvPr id="35" name="Text 31"/>
          <p:cNvSpPr/>
          <p:nvPr/>
        </p:nvSpPr>
        <p:spPr>
          <a:xfrm>
            <a:off x="6766560" y="178308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Improvement in response rate</a:t>
            </a:r>
            <a:endParaRPr lang="en-US" sz="1100" dirty="0"/>
          </a:p>
        </p:txBody>
      </p:sp>
      <p:sp>
        <p:nvSpPr>
          <p:cNvPr id="36" name="Shape 32"/>
          <p:cNvSpPr/>
          <p:nvPr/>
        </p:nvSpPr>
        <p:spPr>
          <a:xfrm>
            <a:off x="4617720" y="2788920"/>
            <a:ext cx="19202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9F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7" name="Shape 33"/>
          <p:cNvSpPr/>
          <p:nvPr/>
        </p:nvSpPr>
        <p:spPr>
          <a:xfrm>
            <a:off x="4617720" y="2788920"/>
            <a:ext cx="1920240" cy="109728"/>
          </a:xfrm>
          <a:prstGeom prst="rect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4617720" y="301752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D1B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15–25%</a:t>
            </a:r>
            <a:endParaRPr lang="en-US" sz="3000" dirty="0"/>
          </a:p>
        </p:txBody>
      </p:sp>
      <p:sp>
        <p:nvSpPr>
          <p:cNvPr id="39" name="Text 35"/>
          <p:cNvSpPr/>
          <p:nvPr/>
        </p:nvSpPr>
        <p:spPr>
          <a:xfrm>
            <a:off x="4617720" y="379476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open rate achieved</a:t>
            </a:r>
            <a:endParaRPr lang="en-US" sz="1100" dirty="0"/>
          </a:p>
        </p:txBody>
      </p:sp>
      <p:sp>
        <p:nvSpPr>
          <p:cNvPr id="40" name="Shape 36"/>
          <p:cNvSpPr/>
          <p:nvPr/>
        </p:nvSpPr>
        <p:spPr>
          <a:xfrm>
            <a:off x="6766560" y="2788920"/>
            <a:ext cx="19202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9F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41" name="Shape 37"/>
          <p:cNvSpPr/>
          <p:nvPr/>
        </p:nvSpPr>
        <p:spPr>
          <a:xfrm>
            <a:off x="6766560" y="2788920"/>
            <a:ext cx="1920240" cy="109728"/>
          </a:xfrm>
          <a:prstGeom prst="rect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42" name="Text 38"/>
          <p:cNvSpPr/>
          <p:nvPr/>
        </p:nvSpPr>
        <p:spPr>
          <a:xfrm>
            <a:off x="6766560" y="301752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D1B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3-Step</a:t>
            </a:r>
            <a:endParaRPr lang="en-US" sz="3000" dirty="0"/>
          </a:p>
        </p:txBody>
      </p:sp>
      <p:sp>
        <p:nvSpPr>
          <p:cNvPr id="43" name="Text 39"/>
          <p:cNvSpPr/>
          <p:nvPr/>
        </p:nvSpPr>
        <p:spPr>
          <a:xfrm>
            <a:off x="6766560" y="379476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 sequences built</a:t>
            </a:r>
            <a:endParaRPr lang="en-US" sz="1100" dirty="0"/>
          </a:p>
        </p:txBody>
      </p:sp>
      <p:sp>
        <p:nvSpPr>
          <p:cNvPr id="44" name="Shape 40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tretch>
            <a:fillRect/>
          </a:stretch>
        </p:blipFill>
        <p:spPr>
          <a:xfrm>
            <a:off x="5029200" y="457200"/>
            <a:ext cx="4114800" cy="4114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65760" y="54864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LET'S WORK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365760" y="1115568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E8B8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TOGETHER</a:t>
            </a:r>
            <a:endParaRPr lang="en-US" sz="4600" dirty="0"/>
          </a:p>
        </p:txBody>
      </p:sp>
      <p:sp>
        <p:nvSpPr>
          <p:cNvPr id="6" name="Text 3"/>
          <p:cNvSpPr/>
          <p:nvPr/>
        </p:nvSpPr>
        <p:spPr>
          <a:xfrm>
            <a:off x="365760" y="1874520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5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for Immediate Joining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320040" y="2432304"/>
            <a:ext cx="4754880" cy="566928"/>
          </a:xfrm>
          <a:prstGeom prst="rect">
            <a:avLst/>
          </a:prstGeom>
          <a:solidFill>
            <a:srgbClr val="1A2F5E"/>
          </a:solidFill>
          <a:ln w="12700">
            <a:solidFill>
              <a:srgbClr val="24367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532888"/>
            <a:ext cx="256032" cy="25603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22960" y="2432304"/>
            <a:ext cx="4206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amaryadav.emailmarketing@gmail.com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320040" y="3118104"/>
            <a:ext cx="4754880" cy="566928"/>
          </a:xfrm>
          <a:prstGeom prst="rect">
            <a:avLst/>
          </a:prstGeom>
          <a:solidFill>
            <a:srgbClr val="1A2F5E"/>
          </a:solidFill>
          <a:ln w="12700">
            <a:solidFill>
              <a:srgbClr val="24367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218688"/>
            <a:ext cx="256032" cy="25603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22960" y="3118104"/>
            <a:ext cx="4206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+91-7057779281</a:t>
            </a:r>
            <a:endParaRPr lang="en-US" sz="1300" dirty="0"/>
          </a:p>
        </p:txBody>
      </p:sp>
      <p:sp>
        <p:nvSpPr>
          <p:cNvPr id="13" name="Shape 8"/>
          <p:cNvSpPr/>
          <p:nvPr/>
        </p:nvSpPr>
        <p:spPr>
          <a:xfrm>
            <a:off x="320040" y="3803904"/>
            <a:ext cx="4754880" cy="566928"/>
          </a:xfrm>
          <a:prstGeom prst="rect">
            <a:avLst/>
          </a:prstGeom>
          <a:solidFill>
            <a:srgbClr val="1A2F5E"/>
          </a:solidFill>
          <a:ln w="12700">
            <a:solidFill>
              <a:srgbClr val="24367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904488"/>
            <a:ext cx="256032" cy="25603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822960" y="3803904"/>
            <a:ext cx="4206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Pune, Maharashtra</a:t>
            </a:r>
            <a:endParaRPr lang="en-US" sz="1300" dirty="0"/>
          </a:p>
        </p:txBody>
      </p:sp>
      <p:sp>
        <p:nvSpPr>
          <p:cNvPr id="16" name="Shape 10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17" name="Text 1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Amar Yadav  •  Email Marketing Specialist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Email Marketing Portfolio – Amar Yadav</dc:title>
  <dc:subject>PptxGenJS Presentation</dc:subject>
  <dc:creator>PptxGenJS</dc:creator>
  <cp:lastModifiedBy>PptxGenJS</cp:lastModifiedBy>
  <cp:revision>1</cp:revision>
  <dcterms:created xsi:type="dcterms:W3CDTF">2026-04-20T03:09:38Z</dcterms:created>
  <dcterms:modified xsi:type="dcterms:W3CDTF">2026-04-20T03:09:38Z</dcterms:modified>
</cp:coreProperties>
</file>